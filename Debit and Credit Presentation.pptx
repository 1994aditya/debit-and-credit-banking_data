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71" r:id="rId6"/>
    <p:sldId id="270" r:id="rId7"/>
    <p:sldId id="269" r:id="rId8"/>
    <p:sldId id="266" r:id="rId9"/>
    <p:sldId id="265" r:id="rId10"/>
    <p:sldId id="267" r:id="rId11"/>
    <p:sldId id="268" r:id="rId12"/>
    <p:sldId id="272" r:id="rId13"/>
    <p:sldId id="273" r:id="rId14"/>
    <p:sldId id="26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3916138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3530358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2934872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EF1807-4DDF-4252-9ACB-89DA175BB38F}"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259856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EF1807-4DDF-4252-9ACB-89DA175BB38F}" type="datetimeFigureOut">
              <a:rPr lang="en-IN" smtClean="0"/>
              <a:t>30-04-2025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64937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EF1807-4DDF-4252-9ACB-89DA175BB38F}" type="datetimeFigureOut">
              <a:rPr lang="en-IN" smtClean="0"/>
              <a:t>30-04-2025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3548233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EF1807-4DDF-4252-9ACB-89DA175BB38F}" type="datetimeFigureOut">
              <a:rPr lang="en-IN" smtClean="0"/>
              <a:t>30-04-2025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3984144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EF1807-4DDF-4252-9ACB-89DA175BB38F}"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1120870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EF1807-4DDF-4252-9ACB-89DA175BB38F}"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2048484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EF1807-4DDF-4252-9ACB-89DA175BB38F}"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3892888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42493449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1713595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27591165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25494711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2739900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14859642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EF1807-4DDF-4252-9ACB-89DA175BB38F}"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25BF90-69E1-4AC7-822B-DC25BBE480DE}" type="slidenum">
              <a:rPr lang="en-IN" smtClean="0"/>
              <a:t>‹#›</a:t>
            </a:fld>
            <a:endParaRPr lang="en-IN"/>
          </a:p>
        </p:txBody>
      </p:sp>
    </p:spTree>
    <p:extLst>
      <p:ext uri="{BB962C8B-B14F-4D97-AF65-F5344CB8AC3E}">
        <p14:creationId xmlns:p14="http://schemas.microsoft.com/office/powerpoint/2010/main" val="60085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1EF1807-4DDF-4252-9ACB-89DA175BB38F}" type="datetimeFigureOut">
              <a:rPr lang="en-IN" smtClean="0"/>
              <a:t>30-04-2025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A25BF90-69E1-4AC7-822B-DC25BBE480DE}" type="slidenum">
              <a:rPr lang="en-IN" smtClean="0"/>
              <a:t>‹#›</a:t>
            </a:fld>
            <a:endParaRPr lang="en-IN"/>
          </a:p>
        </p:txBody>
      </p:sp>
    </p:spTree>
    <p:extLst>
      <p:ext uri="{BB962C8B-B14F-4D97-AF65-F5344CB8AC3E}">
        <p14:creationId xmlns:p14="http://schemas.microsoft.com/office/powerpoint/2010/main" val="236986321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06D7A-4004-4221-84BC-A4E7B039FD7F}"/>
              </a:ext>
            </a:extLst>
          </p:cNvPr>
          <p:cNvSpPr>
            <a:spLocks noGrp="1"/>
          </p:cNvSpPr>
          <p:nvPr>
            <p:ph type="ctrTitle"/>
          </p:nvPr>
        </p:nvSpPr>
        <p:spPr>
          <a:xfrm>
            <a:off x="1582270" y="1855852"/>
            <a:ext cx="9027459" cy="1293906"/>
          </a:xfrm>
        </p:spPr>
        <p:txBody>
          <a:bodyPr>
            <a:normAutofit fontScale="90000"/>
          </a:bodyPr>
          <a:lstStyle/>
          <a:p>
            <a:pPr algn="ctr"/>
            <a:r>
              <a:rPr lang="en-US" sz="4000" dirty="0">
                <a:solidFill>
                  <a:srgbClr val="0070C0"/>
                </a:solidFill>
              </a:rPr>
              <a:t>Debit And Credit Banking Data Presentation</a:t>
            </a:r>
            <a:br>
              <a:rPr lang="en-US" sz="4000" dirty="0">
                <a:solidFill>
                  <a:srgbClr val="0070C0"/>
                </a:solidFill>
              </a:rPr>
            </a:br>
            <a:br>
              <a:rPr lang="en-US" sz="4000" dirty="0">
                <a:solidFill>
                  <a:srgbClr val="0070C0"/>
                </a:solidFill>
              </a:rPr>
            </a:br>
            <a:r>
              <a:rPr lang="en-US" sz="2000" dirty="0"/>
              <a:t>Using MS Excel, MySQL, Power BI &amp; Tableau</a:t>
            </a:r>
            <a:br>
              <a:rPr lang="en-US" sz="2000" dirty="0"/>
            </a:br>
            <a:r>
              <a:rPr lang="en-US" sz="2000" dirty="0"/>
              <a:t>								</a:t>
            </a:r>
            <a:br>
              <a:rPr lang="en-US" sz="2000" dirty="0"/>
            </a:br>
            <a:br>
              <a:rPr lang="en-US" sz="2000" dirty="0"/>
            </a:br>
            <a:r>
              <a:rPr lang="en-US" sz="2000" dirty="0"/>
              <a:t>														By Group 4</a:t>
            </a:r>
            <a:endParaRPr lang="en-IN" sz="4800" dirty="0"/>
          </a:p>
        </p:txBody>
      </p:sp>
    </p:spTree>
    <p:extLst>
      <p:ext uri="{BB962C8B-B14F-4D97-AF65-F5344CB8AC3E}">
        <p14:creationId xmlns:p14="http://schemas.microsoft.com/office/powerpoint/2010/main" val="576678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3351A-1AB5-48CE-947C-3A742A68A87E}"/>
              </a:ext>
            </a:extLst>
          </p:cNvPr>
          <p:cNvSpPr>
            <a:spLocks noGrp="1"/>
          </p:cNvSpPr>
          <p:nvPr>
            <p:ph type="title"/>
          </p:nvPr>
        </p:nvSpPr>
        <p:spPr>
          <a:xfrm>
            <a:off x="838200" y="242047"/>
            <a:ext cx="10515600" cy="815788"/>
          </a:xfrm>
        </p:spPr>
        <p:txBody>
          <a:bodyPr>
            <a:normAutofit/>
          </a:bodyPr>
          <a:lstStyle/>
          <a:p>
            <a:r>
              <a:rPr lang="en-US" sz="3200" dirty="0">
                <a:solidFill>
                  <a:srgbClr val="0070C0"/>
                </a:solidFill>
              </a:rPr>
              <a:t>Summary:</a:t>
            </a:r>
            <a:endParaRPr lang="en-IN" sz="3200" dirty="0">
              <a:solidFill>
                <a:srgbClr val="0070C0"/>
              </a:solidFill>
            </a:endParaRPr>
          </a:p>
        </p:txBody>
      </p:sp>
      <p:sp>
        <p:nvSpPr>
          <p:cNvPr id="3" name="Content Placeholder 2">
            <a:extLst>
              <a:ext uri="{FF2B5EF4-FFF2-40B4-BE49-F238E27FC236}">
                <a16:creationId xmlns:a16="http://schemas.microsoft.com/office/drawing/2014/main" id="{37276B4B-B8CA-4DBA-A917-17D24F24976A}"/>
              </a:ext>
            </a:extLst>
          </p:cNvPr>
          <p:cNvSpPr>
            <a:spLocks noGrp="1"/>
          </p:cNvSpPr>
          <p:nvPr>
            <p:ph idx="1"/>
          </p:nvPr>
        </p:nvSpPr>
        <p:spPr>
          <a:xfrm>
            <a:off x="1335087" y="1349186"/>
            <a:ext cx="10018713" cy="3124201"/>
          </a:xfrm>
        </p:spPr>
        <p:txBody>
          <a:bodyPr>
            <a:normAutofit lnSpcReduction="10000"/>
          </a:bodyPr>
          <a:lstStyle/>
          <a:p>
            <a:pPr marL="0" indent="0">
              <a:buNone/>
            </a:pPr>
            <a:r>
              <a:rPr lang="en-IN" dirty="0"/>
              <a:t>We performed an analysis on Banking data for debit and credit having 100,000 records and drawn KPI from it using excel, my SQL and also used visualization tools like tableau and also used power bi to make dynamic dashboard.</a:t>
            </a:r>
          </a:p>
          <a:p>
            <a:pPr marL="0" indent="0">
              <a:buNone/>
            </a:pPr>
            <a:endParaRPr lang="en-IN" dirty="0"/>
          </a:p>
          <a:p>
            <a:pPr marL="0" indent="0">
              <a:buNone/>
            </a:pPr>
            <a:r>
              <a:rPr lang="en-IN" dirty="0"/>
              <a:t>We got some insights </a:t>
            </a:r>
            <a:r>
              <a:rPr lang="en-US" dirty="0"/>
              <a:t>of the bank's financial transaction performance across different branches, banks, time periods, and methods. It displays aggregated metrics and visualizations related to transaction volume, distribution, and account activity.</a:t>
            </a:r>
            <a:endParaRPr lang="en-IN" dirty="0"/>
          </a:p>
        </p:txBody>
      </p:sp>
    </p:spTree>
    <p:extLst>
      <p:ext uri="{BB962C8B-B14F-4D97-AF65-F5344CB8AC3E}">
        <p14:creationId xmlns:p14="http://schemas.microsoft.com/office/powerpoint/2010/main" val="1825044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8C202-68ED-4F19-8B78-FA7B3517DF1F}"/>
              </a:ext>
            </a:extLst>
          </p:cNvPr>
          <p:cNvSpPr>
            <a:spLocks noGrp="1"/>
          </p:cNvSpPr>
          <p:nvPr>
            <p:ph type="title"/>
          </p:nvPr>
        </p:nvSpPr>
        <p:spPr>
          <a:xfrm>
            <a:off x="1484309" y="0"/>
            <a:ext cx="10018713" cy="1752599"/>
          </a:xfrm>
        </p:spPr>
        <p:txBody>
          <a:bodyPr>
            <a:normAutofit/>
          </a:bodyPr>
          <a:lstStyle/>
          <a:p>
            <a:r>
              <a:rPr lang="en-US" sz="3600" dirty="0">
                <a:solidFill>
                  <a:srgbClr val="0070C0"/>
                </a:solidFill>
              </a:rPr>
              <a:t>Key</a:t>
            </a:r>
            <a:r>
              <a:rPr lang="en-US" sz="1400" dirty="0"/>
              <a:t> </a:t>
            </a:r>
            <a:r>
              <a:rPr lang="en-US" sz="3600" dirty="0">
                <a:solidFill>
                  <a:srgbClr val="0070C0"/>
                </a:solidFill>
              </a:rPr>
              <a:t>Performance</a:t>
            </a:r>
            <a:r>
              <a:rPr lang="en-US" sz="1400" dirty="0"/>
              <a:t> </a:t>
            </a:r>
            <a:r>
              <a:rPr lang="en-US" sz="3600" dirty="0">
                <a:solidFill>
                  <a:srgbClr val="0070C0"/>
                </a:solidFill>
              </a:rPr>
              <a:t>Indicators (KPIs)</a:t>
            </a:r>
            <a:endParaRPr lang="en-IN" sz="3600" dirty="0">
              <a:solidFill>
                <a:srgbClr val="0070C0"/>
              </a:solidFill>
            </a:endParaRPr>
          </a:p>
        </p:txBody>
      </p:sp>
      <p:graphicFrame>
        <p:nvGraphicFramePr>
          <p:cNvPr id="4" name="Table 3">
            <a:extLst>
              <a:ext uri="{FF2B5EF4-FFF2-40B4-BE49-F238E27FC236}">
                <a16:creationId xmlns:a16="http://schemas.microsoft.com/office/drawing/2014/main" id="{1B2AC249-4241-D0A1-BE1E-9E7AD2157A74}"/>
              </a:ext>
            </a:extLst>
          </p:cNvPr>
          <p:cNvGraphicFramePr>
            <a:graphicFrameLocks noGrp="1"/>
          </p:cNvGraphicFramePr>
          <p:nvPr>
            <p:extLst>
              <p:ext uri="{D42A27DB-BD31-4B8C-83A1-F6EECF244321}">
                <p14:modId xmlns:p14="http://schemas.microsoft.com/office/powerpoint/2010/main" val="2031161302"/>
              </p:ext>
            </p:extLst>
          </p:nvPr>
        </p:nvGraphicFramePr>
        <p:xfrm>
          <a:off x="2048584" y="1909680"/>
          <a:ext cx="8707647" cy="3159758"/>
        </p:xfrm>
        <a:graphic>
          <a:graphicData uri="http://schemas.openxmlformats.org/drawingml/2006/table">
            <a:tbl>
              <a:tblPr/>
              <a:tblGrid>
                <a:gridCol w="2902549">
                  <a:extLst>
                    <a:ext uri="{9D8B030D-6E8A-4147-A177-3AD203B41FA5}">
                      <a16:colId xmlns:a16="http://schemas.microsoft.com/office/drawing/2014/main" val="1490039833"/>
                    </a:ext>
                  </a:extLst>
                </a:gridCol>
                <a:gridCol w="2902549">
                  <a:extLst>
                    <a:ext uri="{9D8B030D-6E8A-4147-A177-3AD203B41FA5}">
                      <a16:colId xmlns:a16="http://schemas.microsoft.com/office/drawing/2014/main" val="2623669316"/>
                    </a:ext>
                  </a:extLst>
                </a:gridCol>
                <a:gridCol w="2902549">
                  <a:extLst>
                    <a:ext uri="{9D8B030D-6E8A-4147-A177-3AD203B41FA5}">
                      <a16:colId xmlns:a16="http://schemas.microsoft.com/office/drawing/2014/main" val="1976176641"/>
                    </a:ext>
                  </a:extLst>
                </a:gridCol>
              </a:tblGrid>
              <a:tr h="277707">
                <a:tc>
                  <a:txBody>
                    <a:bodyPr/>
                    <a:lstStyle/>
                    <a:p>
                      <a:r>
                        <a:rPr lang="en-US" sz="1400"/>
                        <a:t>KPI</a:t>
                      </a:r>
                    </a:p>
                  </a:txBody>
                  <a:tcPr marL="69427" marR="69427" marT="34713" marB="34713" anchor="ctr">
                    <a:lnL>
                      <a:noFill/>
                    </a:lnL>
                    <a:lnR>
                      <a:noFill/>
                    </a:lnR>
                    <a:lnT>
                      <a:noFill/>
                    </a:lnT>
                    <a:lnB>
                      <a:noFill/>
                    </a:lnB>
                    <a:noFill/>
                  </a:tcPr>
                </a:tc>
                <a:tc>
                  <a:txBody>
                    <a:bodyPr/>
                    <a:lstStyle/>
                    <a:p>
                      <a:r>
                        <a:rPr lang="en-US" sz="1400"/>
                        <a:t>Value</a:t>
                      </a:r>
                    </a:p>
                  </a:txBody>
                  <a:tcPr marL="69427" marR="69427" marT="34713" marB="34713" anchor="ctr">
                    <a:lnL>
                      <a:noFill/>
                    </a:lnL>
                    <a:lnR>
                      <a:noFill/>
                    </a:lnR>
                    <a:lnT>
                      <a:noFill/>
                    </a:lnT>
                    <a:lnB>
                      <a:noFill/>
                    </a:lnB>
                    <a:noFill/>
                  </a:tcPr>
                </a:tc>
                <a:tc>
                  <a:txBody>
                    <a:bodyPr/>
                    <a:lstStyle/>
                    <a:p>
                      <a:r>
                        <a:rPr lang="en-US" sz="1400"/>
                        <a:t>Description</a:t>
                      </a:r>
                    </a:p>
                  </a:txBody>
                  <a:tcPr marL="69427" marR="69427" marT="34713" marB="34713" anchor="ctr">
                    <a:lnL>
                      <a:noFill/>
                    </a:lnL>
                    <a:lnR>
                      <a:noFill/>
                    </a:lnR>
                    <a:lnT>
                      <a:noFill/>
                    </a:lnT>
                    <a:lnB>
                      <a:noFill/>
                    </a:lnB>
                    <a:noFill/>
                  </a:tcPr>
                </a:tc>
                <a:extLst>
                  <a:ext uri="{0D108BD9-81ED-4DB2-BD59-A6C34878D82A}">
                    <a16:rowId xmlns:a16="http://schemas.microsoft.com/office/drawing/2014/main" val="3167426553"/>
                  </a:ext>
                </a:extLst>
              </a:tr>
              <a:tr h="485987">
                <a:tc>
                  <a:txBody>
                    <a:bodyPr/>
                    <a:lstStyle/>
                    <a:p>
                      <a:r>
                        <a:rPr lang="en-US" sz="1400" b="1"/>
                        <a:t>Total Credit Amount</a:t>
                      </a:r>
                      <a:endParaRPr lang="en-US" sz="1400"/>
                    </a:p>
                  </a:txBody>
                  <a:tcPr marL="69427" marR="69427" marT="34713" marB="34713" anchor="ctr">
                    <a:lnL>
                      <a:noFill/>
                    </a:lnL>
                    <a:lnR>
                      <a:noFill/>
                    </a:lnR>
                    <a:lnT>
                      <a:noFill/>
                    </a:lnT>
                    <a:lnB>
                      <a:noFill/>
                    </a:lnB>
                    <a:noFill/>
                  </a:tcPr>
                </a:tc>
                <a:tc>
                  <a:txBody>
                    <a:bodyPr/>
                    <a:lstStyle/>
                    <a:p>
                      <a:r>
                        <a:rPr lang="en-US" sz="1400"/>
                        <a:t>₹127.60 Cr</a:t>
                      </a:r>
                    </a:p>
                  </a:txBody>
                  <a:tcPr marL="69427" marR="69427" marT="34713" marB="34713" anchor="ctr">
                    <a:lnL>
                      <a:noFill/>
                    </a:lnL>
                    <a:lnR>
                      <a:noFill/>
                    </a:lnR>
                    <a:lnT>
                      <a:noFill/>
                    </a:lnT>
                    <a:lnB>
                      <a:noFill/>
                    </a:lnB>
                    <a:noFill/>
                  </a:tcPr>
                </a:tc>
                <a:tc>
                  <a:txBody>
                    <a:bodyPr/>
                    <a:lstStyle/>
                    <a:p>
                      <a:r>
                        <a:rPr lang="en-US" sz="1400"/>
                        <a:t>Sum of all credit transactions across branches.</a:t>
                      </a:r>
                    </a:p>
                  </a:txBody>
                  <a:tcPr marL="69427" marR="69427" marT="34713" marB="34713" anchor="ctr">
                    <a:lnL>
                      <a:noFill/>
                    </a:lnL>
                    <a:lnR>
                      <a:noFill/>
                    </a:lnR>
                    <a:lnT>
                      <a:noFill/>
                    </a:lnT>
                    <a:lnB>
                      <a:noFill/>
                    </a:lnB>
                    <a:noFill/>
                  </a:tcPr>
                </a:tc>
                <a:extLst>
                  <a:ext uri="{0D108BD9-81ED-4DB2-BD59-A6C34878D82A}">
                    <a16:rowId xmlns:a16="http://schemas.microsoft.com/office/drawing/2014/main" val="526011885"/>
                  </a:ext>
                </a:extLst>
              </a:tr>
              <a:tr h="485987">
                <a:tc>
                  <a:txBody>
                    <a:bodyPr/>
                    <a:lstStyle/>
                    <a:p>
                      <a:r>
                        <a:rPr lang="en-US" sz="1400" b="1"/>
                        <a:t>Total Debit Amount</a:t>
                      </a:r>
                      <a:endParaRPr lang="en-US" sz="1400"/>
                    </a:p>
                  </a:txBody>
                  <a:tcPr marL="69427" marR="69427" marT="34713" marB="34713" anchor="ctr">
                    <a:lnL>
                      <a:noFill/>
                    </a:lnL>
                    <a:lnR>
                      <a:noFill/>
                    </a:lnR>
                    <a:lnT>
                      <a:noFill/>
                    </a:lnT>
                    <a:lnB>
                      <a:noFill/>
                    </a:lnB>
                    <a:noFill/>
                  </a:tcPr>
                </a:tc>
                <a:tc>
                  <a:txBody>
                    <a:bodyPr/>
                    <a:lstStyle/>
                    <a:p>
                      <a:r>
                        <a:rPr lang="en-US" sz="1400"/>
                        <a:t>₹127.29 Cr</a:t>
                      </a:r>
                    </a:p>
                  </a:txBody>
                  <a:tcPr marL="69427" marR="69427" marT="34713" marB="34713" anchor="ctr">
                    <a:lnL>
                      <a:noFill/>
                    </a:lnL>
                    <a:lnR>
                      <a:noFill/>
                    </a:lnR>
                    <a:lnT>
                      <a:noFill/>
                    </a:lnT>
                    <a:lnB>
                      <a:noFill/>
                    </a:lnB>
                    <a:noFill/>
                  </a:tcPr>
                </a:tc>
                <a:tc>
                  <a:txBody>
                    <a:bodyPr/>
                    <a:lstStyle/>
                    <a:p>
                      <a:r>
                        <a:rPr lang="en-US" sz="1400"/>
                        <a:t>Sum of all debit transactions across branches.</a:t>
                      </a:r>
                    </a:p>
                  </a:txBody>
                  <a:tcPr marL="69427" marR="69427" marT="34713" marB="34713" anchor="ctr">
                    <a:lnL>
                      <a:noFill/>
                    </a:lnL>
                    <a:lnR>
                      <a:noFill/>
                    </a:lnR>
                    <a:lnT>
                      <a:noFill/>
                    </a:lnT>
                    <a:lnB>
                      <a:noFill/>
                    </a:lnB>
                    <a:noFill/>
                  </a:tcPr>
                </a:tc>
                <a:extLst>
                  <a:ext uri="{0D108BD9-81ED-4DB2-BD59-A6C34878D82A}">
                    <a16:rowId xmlns:a16="http://schemas.microsoft.com/office/drawing/2014/main" val="4129783925"/>
                  </a:ext>
                </a:extLst>
              </a:tr>
              <a:tr h="694267">
                <a:tc>
                  <a:txBody>
                    <a:bodyPr/>
                    <a:lstStyle/>
                    <a:p>
                      <a:r>
                        <a:rPr lang="en-US" sz="1400" b="1"/>
                        <a:t>Credit to Debit Ratio</a:t>
                      </a:r>
                      <a:endParaRPr lang="en-US" sz="1400"/>
                    </a:p>
                  </a:txBody>
                  <a:tcPr marL="69427" marR="69427" marT="34713" marB="34713" anchor="ctr">
                    <a:lnL>
                      <a:noFill/>
                    </a:lnL>
                    <a:lnR>
                      <a:noFill/>
                    </a:lnR>
                    <a:lnT>
                      <a:noFill/>
                    </a:lnT>
                    <a:lnB>
                      <a:noFill/>
                    </a:lnB>
                    <a:noFill/>
                  </a:tcPr>
                </a:tc>
                <a:tc>
                  <a:txBody>
                    <a:bodyPr/>
                    <a:lstStyle/>
                    <a:p>
                      <a:r>
                        <a:rPr lang="en-US" sz="1400"/>
                        <a:t>1.00:1</a:t>
                      </a:r>
                    </a:p>
                  </a:txBody>
                  <a:tcPr marL="69427" marR="69427" marT="34713" marB="34713" anchor="ctr">
                    <a:lnL>
                      <a:noFill/>
                    </a:lnL>
                    <a:lnR>
                      <a:noFill/>
                    </a:lnR>
                    <a:lnT>
                      <a:noFill/>
                    </a:lnT>
                    <a:lnB>
                      <a:noFill/>
                    </a:lnB>
                    <a:noFill/>
                  </a:tcPr>
                </a:tc>
                <a:tc>
                  <a:txBody>
                    <a:bodyPr/>
                    <a:lstStyle/>
                    <a:p>
                      <a:r>
                        <a:rPr lang="en-US" sz="1400"/>
                        <a:t>Indicates a balance between incoming and outgoing transactions.</a:t>
                      </a:r>
                    </a:p>
                  </a:txBody>
                  <a:tcPr marL="69427" marR="69427" marT="34713" marB="34713" anchor="ctr">
                    <a:lnL>
                      <a:noFill/>
                    </a:lnL>
                    <a:lnR>
                      <a:noFill/>
                    </a:lnR>
                    <a:lnT>
                      <a:noFill/>
                    </a:lnT>
                    <a:lnB>
                      <a:noFill/>
                    </a:lnB>
                    <a:noFill/>
                  </a:tcPr>
                </a:tc>
                <a:extLst>
                  <a:ext uri="{0D108BD9-81ED-4DB2-BD59-A6C34878D82A}">
                    <a16:rowId xmlns:a16="http://schemas.microsoft.com/office/drawing/2014/main" val="1005843753"/>
                  </a:ext>
                </a:extLst>
              </a:tr>
              <a:tr h="485987">
                <a:tc>
                  <a:txBody>
                    <a:bodyPr/>
                    <a:lstStyle/>
                    <a:p>
                      <a:r>
                        <a:rPr lang="en-US" sz="1400" b="1"/>
                        <a:t>Net Transaction Amount</a:t>
                      </a:r>
                      <a:endParaRPr lang="en-US" sz="1400"/>
                    </a:p>
                  </a:txBody>
                  <a:tcPr marL="69427" marR="69427" marT="34713" marB="34713" anchor="ctr">
                    <a:lnL>
                      <a:noFill/>
                    </a:lnL>
                    <a:lnR>
                      <a:noFill/>
                    </a:lnR>
                    <a:lnT>
                      <a:noFill/>
                    </a:lnT>
                    <a:lnB>
                      <a:noFill/>
                    </a:lnB>
                    <a:noFill/>
                  </a:tcPr>
                </a:tc>
                <a:tc>
                  <a:txBody>
                    <a:bodyPr/>
                    <a:lstStyle/>
                    <a:p>
                      <a:r>
                        <a:rPr lang="en-US" sz="1400"/>
                        <a:t>₹3,18,117.19</a:t>
                      </a:r>
                    </a:p>
                  </a:txBody>
                  <a:tcPr marL="69427" marR="69427" marT="34713" marB="34713" anchor="ctr">
                    <a:lnL>
                      <a:noFill/>
                    </a:lnL>
                    <a:lnR>
                      <a:noFill/>
                    </a:lnR>
                    <a:lnT>
                      <a:noFill/>
                    </a:lnT>
                    <a:lnB>
                      <a:noFill/>
                    </a:lnB>
                    <a:noFill/>
                  </a:tcPr>
                </a:tc>
                <a:tc>
                  <a:txBody>
                    <a:bodyPr/>
                    <a:lstStyle/>
                    <a:p>
                      <a:r>
                        <a:rPr lang="en-US" sz="1400"/>
                        <a:t>Net monetary value after balancing debit and credit totals.</a:t>
                      </a:r>
                    </a:p>
                  </a:txBody>
                  <a:tcPr marL="69427" marR="69427" marT="34713" marB="34713" anchor="ctr">
                    <a:lnL>
                      <a:noFill/>
                    </a:lnL>
                    <a:lnR>
                      <a:noFill/>
                    </a:lnR>
                    <a:lnT>
                      <a:noFill/>
                    </a:lnT>
                    <a:lnB>
                      <a:noFill/>
                    </a:lnB>
                    <a:noFill/>
                  </a:tcPr>
                </a:tc>
                <a:extLst>
                  <a:ext uri="{0D108BD9-81ED-4DB2-BD59-A6C34878D82A}">
                    <a16:rowId xmlns:a16="http://schemas.microsoft.com/office/drawing/2014/main" val="2968266033"/>
                  </a:ext>
                </a:extLst>
              </a:tr>
              <a:tr h="694267">
                <a:tc>
                  <a:txBody>
                    <a:bodyPr/>
                    <a:lstStyle/>
                    <a:p>
                      <a:r>
                        <a:rPr lang="en-US" sz="1400" b="1"/>
                        <a:t>Account Activity Ratio</a:t>
                      </a:r>
                      <a:endParaRPr lang="en-US" sz="1400"/>
                    </a:p>
                  </a:txBody>
                  <a:tcPr marL="69427" marR="69427" marT="34713" marB="34713" anchor="ctr">
                    <a:lnL>
                      <a:noFill/>
                    </a:lnL>
                    <a:lnR>
                      <a:noFill/>
                    </a:lnR>
                    <a:lnT>
                      <a:noFill/>
                    </a:lnT>
                    <a:lnB>
                      <a:noFill/>
                    </a:lnB>
                    <a:noFill/>
                  </a:tcPr>
                </a:tc>
                <a:tc>
                  <a:txBody>
                    <a:bodyPr/>
                    <a:lstStyle/>
                    <a:p>
                      <a:r>
                        <a:rPr lang="en-US" sz="1400" dirty="0"/>
                        <a:t>0.0002:1</a:t>
                      </a:r>
                    </a:p>
                  </a:txBody>
                  <a:tcPr marL="69427" marR="69427" marT="34713" marB="34713" anchor="ctr">
                    <a:lnL>
                      <a:noFill/>
                    </a:lnL>
                    <a:lnR>
                      <a:noFill/>
                    </a:lnR>
                    <a:lnT>
                      <a:noFill/>
                    </a:lnT>
                    <a:lnB>
                      <a:noFill/>
                    </a:lnB>
                    <a:noFill/>
                  </a:tcPr>
                </a:tc>
                <a:tc>
                  <a:txBody>
                    <a:bodyPr/>
                    <a:lstStyle/>
                    <a:p>
                      <a:r>
                        <a:rPr lang="en-US" sz="1400" dirty="0"/>
                        <a:t>Likely represents transaction activity per account, possibly underutilized.</a:t>
                      </a:r>
                    </a:p>
                  </a:txBody>
                  <a:tcPr marL="69427" marR="69427" marT="34713" marB="34713" anchor="ctr">
                    <a:lnL>
                      <a:noFill/>
                    </a:lnL>
                    <a:lnR>
                      <a:noFill/>
                    </a:lnR>
                    <a:lnT>
                      <a:noFill/>
                    </a:lnT>
                    <a:lnB>
                      <a:noFill/>
                    </a:lnB>
                    <a:noFill/>
                  </a:tcPr>
                </a:tc>
                <a:extLst>
                  <a:ext uri="{0D108BD9-81ED-4DB2-BD59-A6C34878D82A}">
                    <a16:rowId xmlns:a16="http://schemas.microsoft.com/office/drawing/2014/main" val="1172274376"/>
                  </a:ext>
                </a:extLst>
              </a:tr>
            </a:tbl>
          </a:graphicData>
        </a:graphic>
      </p:graphicFrame>
    </p:spTree>
    <p:extLst>
      <p:ext uri="{BB962C8B-B14F-4D97-AF65-F5344CB8AC3E}">
        <p14:creationId xmlns:p14="http://schemas.microsoft.com/office/powerpoint/2010/main" val="611363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1790FFD-B05F-4418-2684-9ED0555BCB79}"/>
              </a:ext>
            </a:extLst>
          </p:cNvPr>
          <p:cNvSpPr>
            <a:spLocks noGrp="1"/>
          </p:cNvSpPr>
          <p:nvPr>
            <p:ph type="title"/>
          </p:nvPr>
        </p:nvSpPr>
        <p:spPr>
          <a:xfrm>
            <a:off x="1086643" y="204536"/>
            <a:ext cx="10018713" cy="1151021"/>
          </a:xfrm>
        </p:spPr>
        <p:txBody>
          <a:bodyPr/>
          <a:lstStyle/>
          <a:p>
            <a:r>
              <a:rPr lang="en-US" sz="3600" dirty="0">
                <a:solidFill>
                  <a:srgbClr val="0070C0"/>
                </a:solidFill>
              </a:rPr>
              <a:t>Transaction Distribution by Branch</a:t>
            </a:r>
          </a:p>
        </p:txBody>
      </p:sp>
      <p:sp>
        <p:nvSpPr>
          <p:cNvPr id="10" name="TextBox 9">
            <a:extLst>
              <a:ext uri="{FF2B5EF4-FFF2-40B4-BE49-F238E27FC236}">
                <a16:creationId xmlns:a16="http://schemas.microsoft.com/office/drawing/2014/main" id="{19891511-B560-9BF0-CFA4-E6BBC9F374D1}"/>
              </a:ext>
            </a:extLst>
          </p:cNvPr>
          <p:cNvSpPr txBox="1"/>
          <p:nvPr/>
        </p:nvSpPr>
        <p:spPr>
          <a:xfrm>
            <a:off x="2406315" y="1355557"/>
            <a:ext cx="7379368" cy="3139321"/>
          </a:xfrm>
          <a:prstGeom prst="rect">
            <a:avLst/>
          </a:prstGeom>
          <a:noFill/>
        </p:spPr>
        <p:txBody>
          <a:bodyPr wrap="square" rtlCol="0">
            <a:spAutoFit/>
          </a:bodyPr>
          <a:lstStyle/>
          <a:p>
            <a:pPr>
              <a:buNone/>
            </a:pPr>
            <a:endParaRPr lang="en-US" b="1" dirty="0"/>
          </a:p>
          <a:p>
            <a:pPr>
              <a:buFont typeface="Arial" panose="020B0604020202020204" pitchFamily="34" charset="0"/>
              <a:buChar char="•"/>
            </a:pPr>
            <a:r>
              <a:rPr lang="en-US" dirty="0"/>
              <a:t>Main Branch (₹42.84 Cr)</a:t>
            </a:r>
          </a:p>
          <a:p>
            <a:pPr>
              <a:buFont typeface="Arial" panose="020B0604020202020204" pitchFamily="34" charset="0"/>
              <a:buChar char="•"/>
            </a:pPr>
            <a:r>
              <a:rPr lang="en-US" dirty="0"/>
              <a:t>City Center (₹42.91 Cr)</a:t>
            </a:r>
          </a:p>
          <a:p>
            <a:pPr>
              <a:buFont typeface="Arial" panose="020B0604020202020204" pitchFamily="34" charset="0"/>
              <a:buChar char="•"/>
            </a:pPr>
            <a:r>
              <a:rPr lang="en-US" dirty="0"/>
              <a:t>North Branch (₹41.68 Cr)</a:t>
            </a:r>
          </a:p>
          <a:p>
            <a:pPr>
              <a:buFont typeface="Arial" panose="020B0604020202020204" pitchFamily="34" charset="0"/>
              <a:buChar char="•"/>
            </a:pPr>
            <a:r>
              <a:rPr lang="en-US" dirty="0"/>
              <a:t>Others close in range</a:t>
            </a:r>
          </a:p>
          <a:p>
            <a:pPr>
              <a:buFont typeface="Arial" panose="020B0604020202020204" pitchFamily="34" charset="0"/>
              <a:buChar char="•"/>
            </a:pPr>
            <a:endParaRPr lang="en-US" dirty="0"/>
          </a:p>
          <a:p>
            <a:pPr>
              <a:buNone/>
            </a:pPr>
            <a:endParaRPr lang="en-US" dirty="0"/>
          </a:p>
          <a:p>
            <a:pPr marL="742950" lvl="1" indent="-285750">
              <a:buFont typeface="Arial" panose="020B0604020202020204" pitchFamily="34" charset="0"/>
              <a:buChar char="•"/>
            </a:pPr>
            <a:r>
              <a:rPr lang="en-US" dirty="0"/>
              <a:t>All branches perform comparably, with </a:t>
            </a:r>
            <a:r>
              <a:rPr lang="en-US" b="1" dirty="0"/>
              <a:t>Main Branch (₹42.84 Cr)</a:t>
            </a:r>
            <a:r>
              <a:rPr lang="en-US" dirty="0"/>
              <a:t> leading slightly.</a:t>
            </a:r>
          </a:p>
          <a:p>
            <a:pPr marL="742950" lvl="1" indent="-285750">
              <a:buFont typeface="Arial" panose="020B0604020202020204" pitchFamily="34" charset="0"/>
              <a:buChar char="•"/>
            </a:pPr>
            <a:r>
              <a:rPr lang="en-US" b="1" dirty="0"/>
              <a:t>North Branch (₹41.68 Cr)</a:t>
            </a:r>
            <a:r>
              <a:rPr lang="en-US" dirty="0"/>
              <a:t> records the lowest amount.</a:t>
            </a:r>
          </a:p>
          <a:p>
            <a:endParaRPr lang="en-US" dirty="0"/>
          </a:p>
        </p:txBody>
      </p:sp>
    </p:spTree>
    <p:extLst>
      <p:ext uri="{BB962C8B-B14F-4D97-AF65-F5344CB8AC3E}">
        <p14:creationId xmlns:p14="http://schemas.microsoft.com/office/powerpoint/2010/main" val="3894158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1F055-7E68-6426-FDE7-438BC73933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9571605-79C1-0D57-7D6A-BA2EB00987D8}"/>
              </a:ext>
            </a:extLst>
          </p:cNvPr>
          <p:cNvSpPr>
            <a:spLocks noGrp="1"/>
          </p:cNvSpPr>
          <p:nvPr>
            <p:ph type="title"/>
          </p:nvPr>
        </p:nvSpPr>
        <p:spPr>
          <a:xfrm>
            <a:off x="1086643" y="204536"/>
            <a:ext cx="10018713" cy="1151021"/>
          </a:xfrm>
        </p:spPr>
        <p:txBody>
          <a:bodyPr/>
          <a:lstStyle/>
          <a:p>
            <a:r>
              <a:rPr lang="en-US" sz="3600" dirty="0">
                <a:solidFill>
                  <a:srgbClr val="0070C0"/>
                </a:solidFill>
              </a:rPr>
              <a:t>Transaction Method Split</a:t>
            </a:r>
          </a:p>
        </p:txBody>
      </p:sp>
      <p:sp>
        <p:nvSpPr>
          <p:cNvPr id="10" name="TextBox 9">
            <a:extLst>
              <a:ext uri="{FF2B5EF4-FFF2-40B4-BE49-F238E27FC236}">
                <a16:creationId xmlns:a16="http://schemas.microsoft.com/office/drawing/2014/main" id="{B6AD7AF9-33C3-C812-7BD3-19E539089F6A}"/>
              </a:ext>
            </a:extLst>
          </p:cNvPr>
          <p:cNvSpPr txBox="1"/>
          <p:nvPr/>
        </p:nvSpPr>
        <p:spPr>
          <a:xfrm>
            <a:off x="2406315" y="1499937"/>
            <a:ext cx="7379368" cy="2308324"/>
          </a:xfrm>
          <a:prstGeom prst="rect">
            <a:avLst/>
          </a:prstGeom>
          <a:noFill/>
        </p:spPr>
        <p:txBody>
          <a:bodyPr wrap="square" rtlCol="0">
            <a:spAutoFit/>
          </a:bodyPr>
          <a:lstStyle/>
          <a:p>
            <a:pPr>
              <a:buNone/>
            </a:pPr>
            <a:endParaRPr lang="en-US" dirty="0"/>
          </a:p>
          <a:p>
            <a:pPr>
              <a:buFont typeface="Arial" panose="020B0604020202020204" pitchFamily="34" charset="0"/>
              <a:buChar char="•"/>
            </a:pPr>
            <a:r>
              <a:rPr lang="en-US" dirty="0"/>
              <a:t>Bank Transfer: 33.41%</a:t>
            </a:r>
          </a:p>
          <a:p>
            <a:pPr>
              <a:buFont typeface="Arial" panose="020B0604020202020204" pitchFamily="34" charset="0"/>
              <a:buChar char="•"/>
            </a:pPr>
            <a:r>
              <a:rPr lang="en-US" dirty="0"/>
              <a:t>Credit Card: 33.27%</a:t>
            </a:r>
          </a:p>
          <a:p>
            <a:pPr>
              <a:buFont typeface="Arial" panose="020B0604020202020204" pitchFamily="34" charset="0"/>
              <a:buChar char="•"/>
            </a:pPr>
            <a:r>
              <a:rPr lang="en-US" dirty="0"/>
              <a:t>Debit Card: 33.32%</a:t>
            </a:r>
          </a:p>
          <a:p>
            <a:pPr>
              <a:buNone/>
            </a:pPr>
            <a:endParaRPr lang="en-US" dirty="0"/>
          </a:p>
          <a:p>
            <a:pPr>
              <a:buNone/>
            </a:pPr>
            <a:endParaRPr lang="en-US" dirty="0"/>
          </a:p>
          <a:p>
            <a:pPr marL="742950" lvl="1" indent="-285750">
              <a:buFont typeface="Arial" panose="020B0604020202020204" pitchFamily="34" charset="0"/>
              <a:buChar char="•"/>
            </a:pPr>
            <a:r>
              <a:rPr lang="en-US" dirty="0"/>
              <a:t>Nearly equal split across </a:t>
            </a:r>
            <a:r>
              <a:rPr lang="en-US" b="1" dirty="0"/>
              <a:t>Bank Transfer (33.41%)</a:t>
            </a:r>
            <a:r>
              <a:rPr lang="en-US" dirty="0"/>
              <a:t>, </a:t>
            </a:r>
            <a:r>
              <a:rPr lang="en-US" b="1" dirty="0"/>
              <a:t>Credit Card (33.27%)</a:t>
            </a:r>
            <a:r>
              <a:rPr lang="en-US" dirty="0"/>
              <a:t>, and </a:t>
            </a:r>
            <a:r>
              <a:rPr lang="en-US" b="1" dirty="0"/>
              <a:t>Debit Card (33.32%)</a:t>
            </a:r>
            <a:r>
              <a:rPr lang="en-US" dirty="0"/>
              <a:t>, indicating diversified usage.</a:t>
            </a:r>
          </a:p>
        </p:txBody>
      </p:sp>
    </p:spTree>
    <p:extLst>
      <p:ext uri="{BB962C8B-B14F-4D97-AF65-F5344CB8AC3E}">
        <p14:creationId xmlns:p14="http://schemas.microsoft.com/office/powerpoint/2010/main" val="3366513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70796-D7F4-EC77-08C6-D65AA571C65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2A3FFAD-ABFF-E436-9C42-D2C6B0F3E014}"/>
              </a:ext>
            </a:extLst>
          </p:cNvPr>
          <p:cNvSpPr>
            <a:spLocks noGrp="1"/>
          </p:cNvSpPr>
          <p:nvPr>
            <p:ph type="title"/>
          </p:nvPr>
        </p:nvSpPr>
        <p:spPr>
          <a:xfrm>
            <a:off x="1086643" y="204536"/>
            <a:ext cx="10018713" cy="1151021"/>
          </a:xfrm>
        </p:spPr>
        <p:txBody>
          <a:bodyPr>
            <a:normAutofit/>
          </a:bodyPr>
          <a:lstStyle/>
          <a:p>
            <a:r>
              <a:rPr lang="en-US" sz="3600" dirty="0">
                <a:solidFill>
                  <a:srgbClr val="0070C0"/>
                </a:solidFill>
              </a:rPr>
              <a:t>Bank-Wise Amount Distribution</a:t>
            </a:r>
          </a:p>
        </p:txBody>
      </p:sp>
      <p:sp>
        <p:nvSpPr>
          <p:cNvPr id="10" name="TextBox 9">
            <a:extLst>
              <a:ext uri="{FF2B5EF4-FFF2-40B4-BE49-F238E27FC236}">
                <a16:creationId xmlns:a16="http://schemas.microsoft.com/office/drawing/2014/main" id="{5542EA8C-8864-E206-A80F-AD92EB9261A7}"/>
              </a:ext>
            </a:extLst>
          </p:cNvPr>
          <p:cNvSpPr txBox="1"/>
          <p:nvPr/>
        </p:nvSpPr>
        <p:spPr>
          <a:xfrm>
            <a:off x="2406315" y="1419727"/>
            <a:ext cx="7379368" cy="2585323"/>
          </a:xfrm>
          <a:prstGeom prst="rect">
            <a:avLst/>
          </a:prstGeom>
          <a:noFill/>
        </p:spPr>
        <p:txBody>
          <a:bodyPr wrap="square" rtlCol="0">
            <a:spAutoFit/>
          </a:bodyPr>
          <a:lstStyle/>
          <a:p>
            <a:pPr>
              <a:buNone/>
            </a:pPr>
            <a:endParaRPr lang="en-US" dirty="0"/>
          </a:p>
          <a:p>
            <a:pPr>
              <a:buFont typeface="Arial" panose="020B0604020202020204" pitchFamily="34" charset="0"/>
              <a:buChar char="•"/>
            </a:pPr>
            <a:r>
              <a:rPr lang="en-US" dirty="0"/>
              <a:t>Axis Bank, ICICI Bank, State Bank: 17%</a:t>
            </a:r>
          </a:p>
          <a:p>
            <a:pPr>
              <a:buFont typeface="Arial" panose="020B0604020202020204" pitchFamily="34" charset="0"/>
              <a:buChar char="•"/>
            </a:pPr>
            <a:r>
              <a:rPr lang="en-US" dirty="0"/>
              <a:t>HDFC Bank, Punjab National: 16%</a:t>
            </a:r>
          </a:p>
          <a:p>
            <a:pPr>
              <a:buFont typeface="Arial" panose="020B0604020202020204" pitchFamily="34" charset="0"/>
              <a:buChar char="•"/>
            </a:pPr>
            <a:r>
              <a:rPr lang="en-US" dirty="0"/>
              <a:t>Kotak Mahindra Bank (likely lower)</a:t>
            </a:r>
          </a:p>
          <a:p>
            <a:pPr>
              <a:buNone/>
            </a:pPr>
            <a:endParaRPr lang="en-US" dirty="0"/>
          </a:p>
          <a:p>
            <a:pPr>
              <a:buNone/>
            </a:pPr>
            <a:endParaRPr lang="en-US" dirty="0"/>
          </a:p>
          <a:p>
            <a:pPr marL="742950" lvl="1" indent="-285750">
              <a:buFont typeface="Arial" panose="020B0604020202020204" pitchFamily="34" charset="0"/>
              <a:buChar char="•"/>
            </a:pPr>
            <a:r>
              <a:rPr lang="en-US" dirty="0"/>
              <a:t>Top participating banks include </a:t>
            </a:r>
            <a:r>
              <a:rPr lang="en-US" b="1" dirty="0"/>
              <a:t>Axis Bank</a:t>
            </a:r>
            <a:r>
              <a:rPr lang="en-US" dirty="0"/>
              <a:t>, </a:t>
            </a:r>
            <a:r>
              <a:rPr lang="en-US" b="1" dirty="0"/>
              <a:t>ICICI Bank</a:t>
            </a:r>
            <a:r>
              <a:rPr lang="en-US" dirty="0"/>
              <a:t>, and </a:t>
            </a:r>
            <a:r>
              <a:rPr lang="en-US" b="1" dirty="0"/>
              <a:t>State Bank of India</a:t>
            </a:r>
            <a:r>
              <a:rPr lang="en-US" dirty="0"/>
              <a:t>, each holding 17% of transaction share.</a:t>
            </a:r>
          </a:p>
          <a:p>
            <a:pPr marL="742950" lvl="1" indent="-285750">
              <a:buFont typeface="Arial" panose="020B0604020202020204" pitchFamily="34" charset="0"/>
              <a:buChar char="•"/>
            </a:pPr>
            <a:r>
              <a:rPr lang="en-US" b="1" dirty="0"/>
              <a:t>HDFC Bank</a:t>
            </a:r>
            <a:r>
              <a:rPr lang="en-US" dirty="0"/>
              <a:t> and </a:t>
            </a:r>
            <a:r>
              <a:rPr lang="en-US" b="1" dirty="0"/>
              <a:t>Punjab National Bank</a:t>
            </a:r>
            <a:r>
              <a:rPr lang="en-US" dirty="0"/>
              <a:t> follow with 16%.</a:t>
            </a:r>
          </a:p>
        </p:txBody>
      </p:sp>
    </p:spTree>
    <p:extLst>
      <p:ext uri="{BB962C8B-B14F-4D97-AF65-F5344CB8AC3E}">
        <p14:creationId xmlns:p14="http://schemas.microsoft.com/office/powerpoint/2010/main" val="1727547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623B7-762E-0607-9BE7-61D0EEFF426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D6DE950-F2EB-BE68-C7D6-9BC290031665}"/>
              </a:ext>
            </a:extLst>
          </p:cNvPr>
          <p:cNvSpPr>
            <a:spLocks noGrp="1"/>
          </p:cNvSpPr>
          <p:nvPr>
            <p:ph type="title"/>
          </p:nvPr>
        </p:nvSpPr>
        <p:spPr>
          <a:xfrm>
            <a:off x="1086643" y="204536"/>
            <a:ext cx="10018713" cy="1151021"/>
          </a:xfrm>
        </p:spPr>
        <p:txBody>
          <a:bodyPr/>
          <a:lstStyle/>
          <a:p>
            <a:r>
              <a:rPr lang="en-US" sz="3600" dirty="0">
                <a:solidFill>
                  <a:srgbClr val="0070C0"/>
                </a:solidFill>
              </a:rPr>
              <a:t>Monthly Transaction Volume</a:t>
            </a:r>
          </a:p>
        </p:txBody>
      </p:sp>
      <p:sp>
        <p:nvSpPr>
          <p:cNvPr id="10" name="TextBox 9">
            <a:extLst>
              <a:ext uri="{FF2B5EF4-FFF2-40B4-BE49-F238E27FC236}">
                <a16:creationId xmlns:a16="http://schemas.microsoft.com/office/drawing/2014/main" id="{0A3C8C6E-D0EF-C7F8-29E5-59CE67791763}"/>
              </a:ext>
            </a:extLst>
          </p:cNvPr>
          <p:cNvSpPr txBox="1"/>
          <p:nvPr/>
        </p:nvSpPr>
        <p:spPr>
          <a:xfrm>
            <a:off x="2334127" y="1355557"/>
            <a:ext cx="7379368" cy="2585323"/>
          </a:xfrm>
          <a:prstGeom prst="rect">
            <a:avLst/>
          </a:prstGeom>
          <a:noFill/>
        </p:spPr>
        <p:txBody>
          <a:bodyPr wrap="square" rtlCol="0">
            <a:spAutoFit/>
          </a:bodyPr>
          <a:lstStyle/>
          <a:p>
            <a:pPr>
              <a:buNone/>
            </a:pPr>
            <a:endParaRPr lang="en-US" b="1" dirty="0"/>
          </a:p>
          <a:p>
            <a:pPr>
              <a:buFont typeface="Arial" panose="020B0604020202020204" pitchFamily="34" charset="0"/>
              <a:buChar char="•"/>
            </a:pPr>
            <a:r>
              <a:rPr lang="en-US" dirty="0"/>
              <a:t>Highest: May (9344)</a:t>
            </a:r>
          </a:p>
          <a:p>
            <a:pPr>
              <a:buFont typeface="Arial" panose="020B0604020202020204" pitchFamily="34" charset="0"/>
              <a:buChar char="•"/>
            </a:pPr>
            <a:r>
              <a:rPr lang="en-US" dirty="0"/>
              <a:t>Lowest: May (305 )</a:t>
            </a:r>
          </a:p>
          <a:p>
            <a:pPr>
              <a:buFont typeface="Arial" panose="020B0604020202020204" pitchFamily="34" charset="0"/>
              <a:buChar char="•"/>
            </a:pPr>
            <a:endParaRPr lang="en-US" dirty="0"/>
          </a:p>
          <a:p>
            <a:pPr>
              <a:buNone/>
            </a:pPr>
            <a:endParaRPr lang="en-US" dirty="0"/>
          </a:p>
          <a:p>
            <a:pPr marL="742950" lvl="1" indent="-285750">
              <a:buFont typeface="Arial" panose="020B0604020202020204" pitchFamily="34" charset="0"/>
              <a:buChar char="•"/>
            </a:pPr>
            <a:r>
              <a:rPr lang="en-US" b="1" dirty="0"/>
              <a:t>May (9344 transactions)</a:t>
            </a:r>
            <a:r>
              <a:rPr lang="en-US" dirty="0"/>
              <a:t> had the highest volume.</a:t>
            </a:r>
          </a:p>
          <a:p>
            <a:pPr marL="742950" lvl="1" indent="-285750">
              <a:buFont typeface="Arial" panose="020B0604020202020204" pitchFamily="34" charset="0"/>
              <a:buChar char="•"/>
            </a:pPr>
            <a:r>
              <a:rPr lang="en-US" b="1" dirty="0"/>
              <a:t>December</a:t>
            </a:r>
            <a:r>
              <a:rPr lang="en-US" dirty="0"/>
              <a:t> and </a:t>
            </a:r>
            <a:r>
              <a:rPr lang="en-US" b="1" dirty="0"/>
              <a:t>July</a:t>
            </a:r>
            <a:r>
              <a:rPr lang="en-US" dirty="0"/>
              <a:t> also showed strong activity.</a:t>
            </a:r>
          </a:p>
          <a:p>
            <a:pPr marL="742950" lvl="1" indent="-285750">
              <a:buFont typeface="Arial" panose="020B0604020202020204" pitchFamily="34" charset="0"/>
              <a:buChar char="•"/>
            </a:pPr>
            <a:r>
              <a:rPr lang="en-US" b="1" dirty="0"/>
              <a:t>January and February</a:t>
            </a:r>
            <a:r>
              <a:rPr lang="en-US" dirty="0"/>
              <a:t> were comparatively lower in transaction count.</a:t>
            </a:r>
          </a:p>
        </p:txBody>
      </p:sp>
    </p:spTree>
    <p:extLst>
      <p:ext uri="{BB962C8B-B14F-4D97-AF65-F5344CB8AC3E}">
        <p14:creationId xmlns:p14="http://schemas.microsoft.com/office/powerpoint/2010/main" val="1710023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2844DB7-539D-E363-5542-2F223B5B9CC4}"/>
              </a:ext>
            </a:extLst>
          </p:cNvPr>
          <p:cNvSpPr txBox="1"/>
          <p:nvPr/>
        </p:nvSpPr>
        <p:spPr>
          <a:xfrm>
            <a:off x="2149641" y="120316"/>
            <a:ext cx="3296654" cy="677108"/>
          </a:xfrm>
          <a:prstGeom prst="rect">
            <a:avLst/>
          </a:prstGeom>
          <a:noFill/>
        </p:spPr>
        <p:txBody>
          <a:bodyPr wrap="square" rtlCol="0">
            <a:spAutoFit/>
          </a:bodyPr>
          <a:lstStyle/>
          <a:p>
            <a:r>
              <a:rPr lang="en-US" sz="2000" b="1" dirty="0">
                <a:ln w="3175" cmpd="sng">
                  <a:noFill/>
                </a:ln>
                <a:solidFill>
                  <a:srgbClr val="0070C0"/>
                </a:solidFill>
                <a:latin typeface="+mj-lt"/>
                <a:ea typeface="+mj-ea"/>
                <a:cs typeface="+mj-cs"/>
              </a:rPr>
              <a:t>Excel</a:t>
            </a:r>
            <a:r>
              <a:rPr lang="en-US" sz="2000" dirty="0"/>
              <a:t> </a:t>
            </a:r>
            <a:r>
              <a:rPr lang="en-US" sz="2000" b="1" dirty="0">
                <a:ln w="3175" cmpd="sng">
                  <a:noFill/>
                </a:ln>
                <a:solidFill>
                  <a:srgbClr val="0070C0"/>
                </a:solidFill>
                <a:latin typeface="+mj-lt"/>
                <a:ea typeface="+mj-ea"/>
                <a:cs typeface="+mj-cs"/>
              </a:rPr>
              <a:t>Dashboard</a:t>
            </a:r>
          </a:p>
          <a:p>
            <a:endParaRPr lang="en-US" dirty="0"/>
          </a:p>
        </p:txBody>
      </p:sp>
      <p:pic>
        <p:nvPicPr>
          <p:cNvPr id="3" name="Picture 2">
            <a:extLst>
              <a:ext uri="{FF2B5EF4-FFF2-40B4-BE49-F238E27FC236}">
                <a16:creationId xmlns:a16="http://schemas.microsoft.com/office/drawing/2014/main" id="{32A2FF53-33D1-5F5D-D315-518B8352A09B}"/>
              </a:ext>
            </a:extLst>
          </p:cNvPr>
          <p:cNvPicPr>
            <a:picLocks noChangeAspect="1"/>
          </p:cNvPicPr>
          <p:nvPr/>
        </p:nvPicPr>
        <p:blipFill>
          <a:blip r:embed="rId2"/>
          <a:stretch>
            <a:fillRect/>
          </a:stretch>
        </p:blipFill>
        <p:spPr>
          <a:xfrm>
            <a:off x="2245895" y="653045"/>
            <a:ext cx="9760881" cy="5670885"/>
          </a:xfrm>
          <a:prstGeom prst="rect">
            <a:avLst/>
          </a:prstGeom>
        </p:spPr>
      </p:pic>
    </p:spTree>
    <p:extLst>
      <p:ext uri="{BB962C8B-B14F-4D97-AF65-F5344CB8AC3E}">
        <p14:creationId xmlns:p14="http://schemas.microsoft.com/office/powerpoint/2010/main" val="338649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FDCD0D-B7BD-6563-FC34-1B25DFA79068}"/>
              </a:ext>
            </a:extLst>
          </p:cNvPr>
          <p:cNvSpPr txBox="1"/>
          <p:nvPr/>
        </p:nvSpPr>
        <p:spPr>
          <a:xfrm>
            <a:off x="2045368" y="110625"/>
            <a:ext cx="3296654" cy="677108"/>
          </a:xfrm>
          <a:prstGeom prst="rect">
            <a:avLst/>
          </a:prstGeom>
          <a:noFill/>
        </p:spPr>
        <p:txBody>
          <a:bodyPr wrap="square" rtlCol="0">
            <a:spAutoFit/>
          </a:bodyPr>
          <a:lstStyle/>
          <a:p>
            <a:r>
              <a:rPr lang="en-US" sz="2000" b="1" dirty="0">
                <a:ln w="3175" cmpd="sng">
                  <a:noFill/>
                </a:ln>
                <a:solidFill>
                  <a:srgbClr val="0070C0"/>
                </a:solidFill>
                <a:latin typeface="+mj-lt"/>
                <a:ea typeface="+mj-ea"/>
                <a:cs typeface="+mj-cs"/>
              </a:rPr>
              <a:t>Power BI</a:t>
            </a:r>
            <a:r>
              <a:rPr lang="en-US" sz="2000" dirty="0"/>
              <a:t> </a:t>
            </a:r>
            <a:r>
              <a:rPr lang="en-US" sz="2000" b="1" dirty="0">
                <a:ln w="3175" cmpd="sng">
                  <a:noFill/>
                </a:ln>
                <a:solidFill>
                  <a:srgbClr val="0070C0"/>
                </a:solidFill>
                <a:latin typeface="+mj-lt"/>
                <a:ea typeface="+mj-ea"/>
                <a:cs typeface="+mj-cs"/>
              </a:rPr>
              <a:t>Dashboard</a:t>
            </a:r>
          </a:p>
          <a:p>
            <a:endParaRPr lang="en-US" dirty="0"/>
          </a:p>
        </p:txBody>
      </p:sp>
      <p:pic>
        <p:nvPicPr>
          <p:cNvPr id="4" name="Picture 3">
            <a:extLst>
              <a:ext uri="{FF2B5EF4-FFF2-40B4-BE49-F238E27FC236}">
                <a16:creationId xmlns:a16="http://schemas.microsoft.com/office/drawing/2014/main" id="{ADA5594E-8FFD-A0F2-90EF-41B135DA5DEA}"/>
              </a:ext>
            </a:extLst>
          </p:cNvPr>
          <p:cNvPicPr>
            <a:picLocks noChangeAspect="1"/>
          </p:cNvPicPr>
          <p:nvPr/>
        </p:nvPicPr>
        <p:blipFill>
          <a:blip r:embed="rId2"/>
          <a:stretch>
            <a:fillRect/>
          </a:stretch>
        </p:blipFill>
        <p:spPr>
          <a:xfrm>
            <a:off x="2149641" y="657726"/>
            <a:ext cx="9900057" cy="5751095"/>
          </a:xfrm>
          <a:prstGeom prst="rect">
            <a:avLst/>
          </a:prstGeom>
        </p:spPr>
      </p:pic>
    </p:spTree>
    <p:extLst>
      <p:ext uri="{BB962C8B-B14F-4D97-AF65-F5344CB8AC3E}">
        <p14:creationId xmlns:p14="http://schemas.microsoft.com/office/powerpoint/2010/main" val="636569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A3889CE-6793-28A9-F5BC-678FA450D13F}"/>
              </a:ext>
            </a:extLst>
          </p:cNvPr>
          <p:cNvSpPr txBox="1"/>
          <p:nvPr/>
        </p:nvSpPr>
        <p:spPr>
          <a:xfrm>
            <a:off x="2149641" y="120316"/>
            <a:ext cx="3296654" cy="677108"/>
          </a:xfrm>
          <a:prstGeom prst="rect">
            <a:avLst/>
          </a:prstGeom>
          <a:noFill/>
        </p:spPr>
        <p:txBody>
          <a:bodyPr wrap="square" rtlCol="0">
            <a:spAutoFit/>
          </a:bodyPr>
          <a:lstStyle/>
          <a:p>
            <a:r>
              <a:rPr lang="en-US" sz="2000" b="1" dirty="0">
                <a:ln w="3175" cmpd="sng">
                  <a:noFill/>
                </a:ln>
                <a:solidFill>
                  <a:srgbClr val="0070C0"/>
                </a:solidFill>
                <a:latin typeface="+mj-lt"/>
                <a:ea typeface="+mj-ea"/>
                <a:cs typeface="+mj-cs"/>
              </a:rPr>
              <a:t>Tableau</a:t>
            </a:r>
            <a:r>
              <a:rPr lang="en-US" sz="2000" dirty="0"/>
              <a:t> </a:t>
            </a:r>
            <a:r>
              <a:rPr lang="en-US" sz="2000" b="1" dirty="0">
                <a:ln w="3175" cmpd="sng">
                  <a:noFill/>
                </a:ln>
                <a:solidFill>
                  <a:srgbClr val="0070C0"/>
                </a:solidFill>
                <a:latin typeface="+mj-lt"/>
                <a:ea typeface="+mj-ea"/>
                <a:cs typeface="+mj-cs"/>
              </a:rPr>
              <a:t>Dashboard</a:t>
            </a:r>
          </a:p>
          <a:p>
            <a:endParaRPr lang="en-US" dirty="0"/>
          </a:p>
        </p:txBody>
      </p:sp>
      <p:pic>
        <p:nvPicPr>
          <p:cNvPr id="3" name="Picture 2">
            <a:extLst>
              <a:ext uri="{FF2B5EF4-FFF2-40B4-BE49-F238E27FC236}">
                <a16:creationId xmlns:a16="http://schemas.microsoft.com/office/drawing/2014/main" id="{2583ACAC-2574-E960-323E-260843DC4286}"/>
              </a:ext>
            </a:extLst>
          </p:cNvPr>
          <p:cNvPicPr>
            <a:picLocks noChangeAspect="1"/>
          </p:cNvPicPr>
          <p:nvPr/>
        </p:nvPicPr>
        <p:blipFill>
          <a:blip r:embed="rId2"/>
          <a:stretch>
            <a:fillRect/>
          </a:stretch>
        </p:blipFill>
        <p:spPr>
          <a:xfrm>
            <a:off x="2221832" y="665747"/>
            <a:ext cx="9697800" cy="5791200"/>
          </a:xfrm>
          <a:prstGeom prst="rect">
            <a:avLst/>
          </a:prstGeom>
        </p:spPr>
      </p:pic>
    </p:spTree>
    <p:extLst>
      <p:ext uri="{BB962C8B-B14F-4D97-AF65-F5344CB8AC3E}">
        <p14:creationId xmlns:p14="http://schemas.microsoft.com/office/powerpoint/2010/main" val="2799254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314AF2F8-DE6D-C502-0566-41ADA27489D9}"/>
              </a:ext>
            </a:extLst>
          </p:cNvPr>
          <p:cNvSpPr txBox="1"/>
          <p:nvPr/>
        </p:nvSpPr>
        <p:spPr>
          <a:xfrm>
            <a:off x="2149641" y="120316"/>
            <a:ext cx="3296654" cy="677108"/>
          </a:xfrm>
          <a:prstGeom prst="rect">
            <a:avLst/>
          </a:prstGeom>
          <a:noFill/>
        </p:spPr>
        <p:txBody>
          <a:bodyPr wrap="square" rtlCol="0">
            <a:spAutoFit/>
          </a:bodyPr>
          <a:lstStyle/>
          <a:p>
            <a:r>
              <a:rPr lang="en-US" sz="2000" b="1" dirty="0">
                <a:ln w="3175" cmpd="sng">
                  <a:noFill/>
                </a:ln>
                <a:solidFill>
                  <a:srgbClr val="0070C0"/>
                </a:solidFill>
                <a:latin typeface="+mj-lt"/>
                <a:ea typeface="+mj-ea"/>
                <a:cs typeface="+mj-cs"/>
              </a:rPr>
              <a:t>SQL Queries</a:t>
            </a:r>
          </a:p>
          <a:p>
            <a:endParaRPr lang="en-US" dirty="0"/>
          </a:p>
        </p:txBody>
      </p:sp>
      <p:pic>
        <p:nvPicPr>
          <p:cNvPr id="3" name="Picture 2">
            <a:extLst>
              <a:ext uri="{FF2B5EF4-FFF2-40B4-BE49-F238E27FC236}">
                <a16:creationId xmlns:a16="http://schemas.microsoft.com/office/drawing/2014/main" id="{E7022DD9-AD51-D07B-C50B-1B79FEF87C25}"/>
              </a:ext>
            </a:extLst>
          </p:cNvPr>
          <p:cNvPicPr>
            <a:picLocks noChangeAspect="1"/>
          </p:cNvPicPr>
          <p:nvPr/>
        </p:nvPicPr>
        <p:blipFill>
          <a:blip r:embed="rId2"/>
          <a:stretch>
            <a:fillRect/>
          </a:stretch>
        </p:blipFill>
        <p:spPr>
          <a:xfrm>
            <a:off x="2240381" y="594785"/>
            <a:ext cx="3477110" cy="1238101"/>
          </a:xfrm>
          <a:prstGeom prst="rect">
            <a:avLst/>
          </a:prstGeom>
        </p:spPr>
      </p:pic>
      <p:pic>
        <p:nvPicPr>
          <p:cNvPr id="6" name="Picture 5">
            <a:extLst>
              <a:ext uri="{FF2B5EF4-FFF2-40B4-BE49-F238E27FC236}">
                <a16:creationId xmlns:a16="http://schemas.microsoft.com/office/drawing/2014/main" id="{661BF2D4-E0D9-F0DB-020F-04034FA09F85}"/>
              </a:ext>
            </a:extLst>
          </p:cNvPr>
          <p:cNvPicPr>
            <a:picLocks noChangeAspect="1"/>
          </p:cNvPicPr>
          <p:nvPr/>
        </p:nvPicPr>
        <p:blipFill>
          <a:blip r:embed="rId3"/>
          <a:stretch>
            <a:fillRect/>
          </a:stretch>
        </p:blipFill>
        <p:spPr>
          <a:xfrm>
            <a:off x="2240381" y="1899173"/>
            <a:ext cx="3477110" cy="1299259"/>
          </a:xfrm>
          <a:prstGeom prst="rect">
            <a:avLst/>
          </a:prstGeom>
        </p:spPr>
      </p:pic>
      <p:pic>
        <p:nvPicPr>
          <p:cNvPr id="10" name="Picture 9">
            <a:extLst>
              <a:ext uri="{FF2B5EF4-FFF2-40B4-BE49-F238E27FC236}">
                <a16:creationId xmlns:a16="http://schemas.microsoft.com/office/drawing/2014/main" id="{D30292A3-6C07-3720-5212-EE53900257C5}"/>
              </a:ext>
            </a:extLst>
          </p:cNvPr>
          <p:cNvPicPr>
            <a:picLocks noChangeAspect="1"/>
          </p:cNvPicPr>
          <p:nvPr/>
        </p:nvPicPr>
        <p:blipFill>
          <a:blip r:embed="rId4"/>
          <a:stretch>
            <a:fillRect/>
          </a:stretch>
        </p:blipFill>
        <p:spPr>
          <a:xfrm>
            <a:off x="2240382" y="3264719"/>
            <a:ext cx="4923408" cy="1636143"/>
          </a:xfrm>
          <a:prstGeom prst="rect">
            <a:avLst/>
          </a:prstGeom>
        </p:spPr>
      </p:pic>
      <p:pic>
        <p:nvPicPr>
          <p:cNvPr id="14" name="Picture 13">
            <a:extLst>
              <a:ext uri="{FF2B5EF4-FFF2-40B4-BE49-F238E27FC236}">
                <a16:creationId xmlns:a16="http://schemas.microsoft.com/office/drawing/2014/main" id="{31E139AD-7BB9-8891-1D89-F3D92FC18A1B}"/>
              </a:ext>
            </a:extLst>
          </p:cNvPr>
          <p:cNvPicPr>
            <a:picLocks noChangeAspect="1"/>
          </p:cNvPicPr>
          <p:nvPr/>
        </p:nvPicPr>
        <p:blipFill>
          <a:blip r:embed="rId5"/>
          <a:stretch>
            <a:fillRect/>
          </a:stretch>
        </p:blipFill>
        <p:spPr>
          <a:xfrm>
            <a:off x="2240381" y="4967149"/>
            <a:ext cx="4923408" cy="1561988"/>
          </a:xfrm>
          <a:prstGeom prst="rect">
            <a:avLst/>
          </a:prstGeom>
        </p:spPr>
      </p:pic>
      <p:pic>
        <p:nvPicPr>
          <p:cNvPr id="18" name="Picture 17">
            <a:extLst>
              <a:ext uri="{FF2B5EF4-FFF2-40B4-BE49-F238E27FC236}">
                <a16:creationId xmlns:a16="http://schemas.microsoft.com/office/drawing/2014/main" id="{2D7E54F3-9C69-DE44-7180-4AE2ED30D487}"/>
              </a:ext>
            </a:extLst>
          </p:cNvPr>
          <p:cNvPicPr>
            <a:picLocks noChangeAspect="1"/>
          </p:cNvPicPr>
          <p:nvPr/>
        </p:nvPicPr>
        <p:blipFill>
          <a:blip r:embed="rId6"/>
          <a:stretch>
            <a:fillRect/>
          </a:stretch>
        </p:blipFill>
        <p:spPr>
          <a:xfrm>
            <a:off x="7260042" y="3264719"/>
            <a:ext cx="4771537" cy="1636143"/>
          </a:xfrm>
          <a:prstGeom prst="rect">
            <a:avLst/>
          </a:prstGeom>
        </p:spPr>
      </p:pic>
      <p:pic>
        <p:nvPicPr>
          <p:cNvPr id="20" name="Picture 19">
            <a:extLst>
              <a:ext uri="{FF2B5EF4-FFF2-40B4-BE49-F238E27FC236}">
                <a16:creationId xmlns:a16="http://schemas.microsoft.com/office/drawing/2014/main" id="{3B97E439-7693-C7F4-D0D2-3FE4797434F0}"/>
              </a:ext>
            </a:extLst>
          </p:cNvPr>
          <p:cNvPicPr>
            <a:picLocks noChangeAspect="1"/>
          </p:cNvPicPr>
          <p:nvPr/>
        </p:nvPicPr>
        <p:blipFill>
          <a:blip r:embed="rId7"/>
          <a:stretch>
            <a:fillRect/>
          </a:stretch>
        </p:blipFill>
        <p:spPr>
          <a:xfrm>
            <a:off x="5808231" y="594785"/>
            <a:ext cx="6223348" cy="2603647"/>
          </a:xfrm>
          <a:prstGeom prst="rect">
            <a:avLst/>
          </a:prstGeom>
        </p:spPr>
      </p:pic>
      <p:pic>
        <p:nvPicPr>
          <p:cNvPr id="22" name="Picture 21">
            <a:extLst>
              <a:ext uri="{FF2B5EF4-FFF2-40B4-BE49-F238E27FC236}">
                <a16:creationId xmlns:a16="http://schemas.microsoft.com/office/drawing/2014/main" id="{BBB35B68-90DD-7409-3543-288E69398680}"/>
              </a:ext>
            </a:extLst>
          </p:cNvPr>
          <p:cNvPicPr>
            <a:picLocks noChangeAspect="1"/>
          </p:cNvPicPr>
          <p:nvPr/>
        </p:nvPicPr>
        <p:blipFill>
          <a:blip r:embed="rId8"/>
          <a:stretch>
            <a:fillRect/>
          </a:stretch>
        </p:blipFill>
        <p:spPr>
          <a:xfrm>
            <a:off x="7260042" y="4967149"/>
            <a:ext cx="4771537" cy="1561988"/>
          </a:xfrm>
          <a:prstGeom prst="rect">
            <a:avLst/>
          </a:prstGeom>
        </p:spPr>
      </p:pic>
    </p:spTree>
    <p:extLst>
      <p:ext uri="{BB962C8B-B14F-4D97-AF65-F5344CB8AC3E}">
        <p14:creationId xmlns:p14="http://schemas.microsoft.com/office/powerpoint/2010/main" val="1573198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8BAB5-7035-621C-92F8-F4193DFA6D85}"/>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8D778B18-A1CB-23BE-C988-C188E9D68079}"/>
              </a:ext>
            </a:extLst>
          </p:cNvPr>
          <p:cNvSpPr txBox="1"/>
          <p:nvPr/>
        </p:nvSpPr>
        <p:spPr>
          <a:xfrm>
            <a:off x="2149641" y="120316"/>
            <a:ext cx="3296654" cy="677108"/>
          </a:xfrm>
          <a:prstGeom prst="rect">
            <a:avLst/>
          </a:prstGeom>
          <a:noFill/>
        </p:spPr>
        <p:txBody>
          <a:bodyPr wrap="square" rtlCol="0">
            <a:spAutoFit/>
          </a:bodyPr>
          <a:lstStyle/>
          <a:p>
            <a:r>
              <a:rPr lang="en-US" sz="2000" b="1" dirty="0">
                <a:ln w="3175" cmpd="sng">
                  <a:noFill/>
                </a:ln>
                <a:solidFill>
                  <a:srgbClr val="0070C0"/>
                </a:solidFill>
                <a:latin typeface="+mj-lt"/>
                <a:ea typeface="+mj-ea"/>
                <a:cs typeface="+mj-cs"/>
              </a:rPr>
              <a:t>SQL Queries</a:t>
            </a:r>
          </a:p>
          <a:p>
            <a:endParaRPr lang="en-US" dirty="0"/>
          </a:p>
        </p:txBody>
      </p:sp>
      <p:pic>
        <p:nvPicPr>
          <p:cNvPr id="4" name="Picture 3">
            <a:extLst>
              <a:ext uri="{FF2B5EF4-FFF2-40B4-BE49-F238E27FC236}">
                <a16:creationId xmlns:a16="http://schemas.microsoft.com/office/drawing/2014/main" id="{63547E0A-99F3-FBCC-C1A5-96D434954569}"/>
              </a:ext>
            </a:extLst>
          </p:cNvPr>
          <p:cNvPicPr>
            <a:picLocks noChangeAspect="1"/>
          </p:cNvPicPr>
          <p:nvPr/>
        </p:nvPicPr>
        <p:blipFill>
          <a:blip r:embed="rId2"/>
          <a:stretch>
            <a:fillRect/>
          </a:stretch>
        </p:blipFill>
        <p:spPr>
          <a:xfrm>
            <a:off x="2255686" y="572615"/>
            <a:ext cx="9656225" cy="1322088"/>
          </a:xfrm>
          <a:prstGeom prst="rect">
            <a:avLst/>
          </a:prstGeom>
        </p:spPr>
      </p:pic>
      <p:pic>
        <p:nvPicPr>
          <p:cNvPr id="7" name="Picture 6">
            <a:extLst>
              <a:ext uri="{FF2B5EF4-FFF2-40B4-BE49-F238E27FC236}">
                <a16:creationId xmlns:a16="http://schemas.microsoft.com/office/drawing/2014/main" id="{DFF9730E-D130-54DC-E006-AF14B4204691}"/>
              </a:ext>
            </a:extLst>
          </p:cNvPr>
          <p:cNvPicPr>
            <a:picLocks noChangeAspect="1"/>
          </p:cNvPicPr>
          <p:nvPr/>
        </p:nvPicPr>
        <p:blipFill>
          <a:blip r:embed="rId3"/>
          <a:stretch>
            <a:fillRect/>
          </a:stretch>
        </p:blipFill>
        <p:spPr>
          <a:xfrm>
            <a:off x="2255687" y="1976015"/>
            <a:ext cx="9656226" cy="1322088"/>
          </a:xfrm>
          <a:prstGeom prst="rect">
            <a:avLst/>
          </a:prstGeom>
        </p:spPr>
      </p:pic>
      <p:pic>
        <p:nvPicPr>
          <p:cNvPr id="9" name="Picture 8">
            <a:extLst>
              <a:ext uri="{FF2B5EF4-FFF2-40B4-BE49-F238E27FC236}">
                <a16:creationId xmlns:a16="http://schemas.microsoft.com/office/drawing/2014/main" id="{6BFF358F-189F-B4D7-6453-540DC48DD879}"/>
              </a:ext>
            </a:extLst>
          </p:cNvPr>
          <p:cNvPicPr>
            <a:picLocks noChangeAspect="1"/>
          </p:cNvPicPr>
          <p:nvPr/>
        </p:nvPicPr>
        <p:blipFill>
          <a:blip r:embed="rId4"/>
          <a:stretch>
            <a:fillRect/>
          </a:stretch>
        </p:blipFill>
        <p:spPr>
          <a:xfrm>
            <a:off x="2255686" y="3379415"/>
            <a:ext cx="9656227" cy="1390293"/>
          </a:xfrm>
          <a:prstGeom prst="rect">
            <a:avLst/>
          </a:prstGeom>
        </p:spPr>
      </p:pic>
      <p:pic>
        <p:nvPicPr>
          <p:cNvPr id="12" name="Picture 11">
            <a:extLst>
              <a:ext uri="{FF2B5EF4-FFF2-40B4-BE49-F238E27FC236}">
                <a16:creationId xmlns:a16="http://schemas.microsoft.com/office/drawing/2014/main" id="{5068FB42-07FE-1501-BCCF-4B39E203E946}"/>
              </a:ext>
            </a:extLst>
          </p:cNvPr>
          <p:cNvPicPr>
            <a:picLocks noChangeAspect="1"/>
          </p:cNvPicPr>
          <p:nvPr/>
        </p:nvPicPr>
        <p:blipFill>
          <a:blip r:embed="rId5"/>
          <a:stretch>
            <a:fillRect/>
          </a:stretch>
        </p:blipFill>
        <p:spPr>
          <a:xfrm>
            <a:off x="2255687" y="4851019"/>
            <a:ext cx="5314886" cy="1467055"/>
          </a:xfrm>
          <a:prstGeom prst="rect">
            <a:avLst/>
          </a:prstGeom>
        </p:spPr>
      </p:pic>
      <p:pic>
        <p:nvPicPr>
          <p:cNvPr id="15" name="Picture 14">
            <a:extLst>
              <a:ext uri="{FF2B5EF4-FFF2-40B4-BE49-F238E27FC236}">
                <a16:creationId xmlns:a16="http://schemas.microsoft.com/office/drawing/2014/main" id="{B2D46F31-A253-0CD9-456B-58D490711685}"/>
              </a:ext>
            </a:extLst>
          </p:cNvPr>
          <p:cNvPicPr>
            <a:picLocks noChangeAspect="1"/>
          </p:cNvPicPr>
          <p:nvPr/>
        </p:nvPicPr>
        <p:blipFill>
          <a:blip r:embed="rId6"/>
          <a:stretch>
            <a:fillRect/>
          </a:stretch>
        </p:blipFill>
        <p:spPr>
          <a:xfrm>
            <a:off x="7638407" y="4851020"/>
            <a:ext cx="4273507" cy="1467055"/>
          </a:xfrm>
          <a:prstGeom prst="rect">
            <a:avLst/>
          </a:prstGeom>
        </p:spPr>
      </p:pic>
    </p:spTree>
    <p:extLst>
      <p:ext uri="{BB962C8B-B14F-4D97-AF65-F5344CB8AC3E}">
        <p14:creationId xmlns:p14="http://schemas.microsoft.com/office/powerpoint/2010/main" val="3914249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91668-EAAA-0574-60A6-BA889962780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A22D390-52F0-CC52-158C-1E378328AD49}"/>
              </a:ext>
            </a:extLst>
          </p:cNvPr>
          <p:cNvSpPr>
            <a:spLocks noGrp="1"/>
          </p:cNvSpPr>
          <p:nvPr>
            <p:ph type="title"/>
          </p:nvPr>
        </p:nvSpPr>
        <p:spPr>
          <a:xfrm>
            <a:off x="1086643" y="204536"/>
            <a:ext cx="10018713" cy="1151021"/>
          </a:xfrm>
        </p:spPr>
        <p:txBody>
          <a:bodyPr/>
          <a:lstStyle/>
          <a:p>
            <a:r>
              <a:rPr lang="en-US" sz="3600" dirty="0">
                <a:solidFill>
                  <a:srgbClr val="0070C0"/>
                </a:solidFill>
              </a:rPr>
              <a:t>Key Takeaways &amp; Insights</a:t>
            </a:r>
          </a:p>
        </p:txBody>
      </p:sp>
      <p:sp>
        <p:nvSpPr>
          <p:cNvPr id="10" name="TextBox 9">
            <a:extLst>
              <a:ext uri="{FF2B5EF4-FFF2-40B4-BE49-F238E27FC236}">
                <a16:creationId xmlns:a16="http://schemas.microsoft.com/office/drawing/2014/main" id="{C042F43B-80D2-C91F-99D7-F46A82C7AD2F}"/>
              </a:ext>
            </a:extLst>
          </p:cNvPr>
          <p:cNvSpPr txBox="1"/>
          <p:nvPr/>
        </p:nvSpPr>
        <p:spPr>
          <a:xfrm>
            <a:off x="2334127" y="1355557"/>
            <a:ext cx="7379368" cy="2308324"/>
          </a:xfrm>
          <a:prstGeom prst="rect">
            <a:avLst/>
          </a:prstGeom>
          <a:noFill/>
        </p:spPr>
        <p:txBody>
          <a:bodyPr wrap="square" rtlCol="0">
            <a:spAutoFit/>
          </a:bodyPr>
          <a:lstStyle/>
          <a:p>
            <a:pPr>
              <a:buNone/>
            </a:pPr>
            <a:endParaRPr lang="en-US" b="1" dirty="0"/>
          </a:p>
          <a:p>
            <a:pPr>
              <a:buFont typeface="Arial" panose="020B0604020202020204" pitchFamily="34" charset="0"/>
              <a:buChar char="•"/>
            </a:pPr>
            <a:r>
              <a:rPr lang="en-US" dirty="0"/>
              <a:t>Balanced credit/debit flows ensure financial stability.</a:t>
            </a:r>
          </a:p>
          <a:p>
            <a:pPr>
              <a:buFont typeface="Arial" panose="020B0604020202020204" pitchFamily="34" charset="0"/>
              <a:buChar char="•"/>
            </a:pPr>
            <a:endParaRPr lang="en-US" dirty="0"/>
          </a:p>
          <a:p>
            <a:pPr>
              <a:buFont typeface="Arial" panose="020B0604020202020204" pitchFamily="34" charset="0"/>
              <a:buChar char="•"/>
            </a:pPr>
            <a:r>
              <a:rPr lang="en-US" dirty="0"/>
              <a:t>Broad usage of all transaction methods—diversified customer behavior.</a:t>
            </a:r>
          </a:p>
          <a:p>
            <a:pPr>
              <a:buFont typeface="Arial" panose="020B0604020202020204" pitchFamily="34" charset="0"/>
              <a:buChar char="•"/>
            </a:pPr>
            <a:endParaRPr lang="en-US" dirty="0"/>
          </a:p>
          <a:p>
            <a:pPr>
              <a:buFont typeface="Arial" panose="020B0604020202020204" pitchFamily="34" charset="0"/>
              <a:buChar char="•"/>
            </a:pPr>
            <a:r>
              <a:rPr lang="en-US" dirty="0"/>
              <a:t>Consistent branch performance suggests strong network.</a:t>
            </a:r>
          </a:p>
          <a:p>
            <a:pPr>
              <a:buFont typeface="Arial" panose="020B0604020202020204" pitchFamily="34" charset="0"/>
              <a:buChar char="•"/>
            </a:pPr>
            <a:endParaRPr lang="en-US" dirty="0"/>
          </a:p>
          <a:p>
            <a:pPr>
              <a:buFont typeface="Arial" panose="020B0604020202020204" pitchFamily="34" charset="0"/>
              <a:buChar char="•"/>
            </a:pPr>
            <a:r>
              <a:rPr lang="en-US" dirty="0"/>
              <a:t>May is peak month—could align with seasonal trends or campaigns.</a:t>
            </a:r>
          </a:p>
        </p:txBody>
      </p:sp>
    </p:spTree>
    <p:extLst>
      <p:ext uri="{BB962C8B-B14F-4D97-AF65-F5344CB8AC3E}">
        <p14:creationId xmlns:p14="http://schemas.microsoft.com/office/powerpoint/2010/main" val="476506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F05E9-0970-46D7-9B56-ED54C9E9EEF6}"/>
              </a:ext>
            </a:extLst>
          </p:cNvPr>
          <p:cNvSpPr>
            <a:spLocks noGrp="1"/>
          </p:cNvSpPr>
          <p:nvPr>
            <p:ph type="title"/>
          </p:nvPr>
        </p:nvSpPr>
        <p:spPr>
          <a:xfrm>
            <a:off x="1484311" y="2552700"/>
            <a:ext cx="10018713" cy="1752599"/>
          </a:xfrm>
        </p:spPr>
        <p:txBody>
          <a:bodyPr>
            <a:noAutofit/>
          </a:bodyPr>
          <a:lstStyle/>
          <a:p>
            <a:r>
              <a:rPr lang="en-US" sz="11500" dirty="0">
                <a:solidFill>
                  <a:srgbClr val="0070C0"/>
                </a:solidFill>
              </a:rPr>
              <a:t>Thank You</a:t>
            </a:r>
            <a:endParaRPr lang="en-IN" sz="11500" dirty="0">
              <a:solidFill>
                <a:srgbClr val="0070C0"/>
              </a:solidFill>
            </a:endParaRPr>
          </a:p>
        </p:txBody>
      </p:sp>
    </p:spTree>
    <p:extLst>
      <p:ext uri="{BB962C8B-B14F-4D97-AF65-F5344CB8AC3E}">
        <p14:creationId xmlns:p14="http://schemas.microsoft.com/office/powerpoint/2010/main" val="24763944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121</TotalTime>
  <Words>470</Words>
  <Application>Microsoft Office PowerPoint</Application>
  <PresentationFormat>Widescreen</PresentationFormat>
  <Paragraphs>75</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Corbel</vt:lpstr>
      <vt:lpstr>Parallax</vt:lpstr>
      <vt:lpstr>Debit And Credit Banking Data Presentation  Using MS Excel, MySQL, Power BI &amp; Tableau                         By Group 4</vt:lpstr>
      <vt:lpstr>Summary:</vt:lpstr>
      <vt:lpstr>Key Performance Indicators (KPIs)</vt:lpstr>
      <vt:lpstr>Transaction Distribution by Branch</vt:lpstr>
      <vt:lpstr>Transaction Method Split</vt:lpstr>
      <vt:lpstr>Bank-Wise Amount Distribution</vt:lpstr>
      <vt:lpstr>Monthly Transaction Volume</vt:lpstr>
      <vt:lpstr>PowerPoint Presentation</vt:lpstr>
      <vt:lpstr>PowerPoint Presentation</vt:lpstr>
      <vt:lpstr>PowerPoint Presentation</vt:lpstr>
      <vt:lpstr>PowerPoint Presentation</vt:lpstr>
      <vt:lpstr>PowerPoint Presentation</vt:lpstr>
      <vt:lpstr>Key Takeaways &amp; Insights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Retention Presentation: Using MS Excel, MySQL, PowerBI &amp; Tableau                         By Group 3</dc:title>
  <dc:creator>Harshad Patil</dc:creator>
  <cp:lastModifiedBy>Sumit Sharma</cp:lastModifiedBy>
  <cp:revision>12</cp:revision>
  <dcterms:created xsi:type="dcterms:W3CDTF">2025-02-26T17:25:03Z</dcterms:created>
  <dcterms:modified xsi:type="dcterms:W3CDTF">2025-04-30T06:26:38Z</dcterms:modified>
</cp:coreProperties>
</file>